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REVERSE ENGINEERING</a:t>
            </a:r>
            <a:br/>
            <a:r>
              <a:t>OF AN AI-BASED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3375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DCEB"/>
                </a:solidFill>
              </a:defRPr>
            </a:pPr>
            <a:r>
              <a:t>Architecture • Algorithms • Data Flow • Reconstruction •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800600"/>
            <a:ext cx="6675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60520"/>
            <a:ext cx="6309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DCEB"/>
                </a:solidFill>
              </a:defRPr>
            </a:pPr>
            <a:r>
              <a:t>Presented by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Venu G  |  192424390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1. System Analysis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Understanding an existing AI system from observable behavior, interfaces and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Objective: reconstruct how the system works without relying only on original design documents.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Analyze inputs, outputs, components, dependencies, models, databases, APIs and control logic.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Use a black-box → grey-box → white-box approach where evidence is available.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Deliverables: architecture diagram, module map, algorithm identification, data-flow model and improvement plan.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Reference System: AI-Based Smart Construction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Example system used throughout the reverse-engineering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73736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Camera / Drone</a:t>
            </a:r>
            <a:br/>
            <a:r>
              <a:t>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011680"/>
            <a:ext cx="173736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Preprocessing</a:t>
            </a:r>
            <a:br/>
            <a:r>
              <a:t>&amp;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2011680"/>
            <a:ext cx="173736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AI Models</a:t>
            </a:r>
            <a:br/>
            <a:r>
              <a:t>YOLO / CNN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011680"/>
            <a:ext cx="173736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Decision</a:t>
            </a:r>
            <a:br/>
            <a:r>
              <a:t>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2011680"/>
            <a:ext cx="173736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Dashboard</a:t>
            </a:r>
            <a:br/>
            <a:r>
              <a:t>&amp; Alerts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633472"/>
            <a:ext cx="50292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63440" y="2633472"/>
            <a:ext cx="502919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2633472"/>
            <a:ext cx="50292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35440" y="2633472"/>
            <a:ext cx="50292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828800" y="4114800"/>
            <a:ext cx="8412480" cy="914400"/>
          </a:xfrm>
          <a:prstGeom prst="roundRect">
            <a:avLst/>
          </a:prstGeom>
          <a:solidFill>
            <a:srgbClr val="E4EFFA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32A32"/>
                </a:solidFill>
              </a:defRPr>
            </a:pPr>
            <a:r>
              <a:t>Worker attendance • PPE detection • progress • visible defects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2. Architecture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Reconstructed layered architecture from interfaces, runtime behavior and data dependencies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828800" cy="201168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Input Layer</a:t>
            </a:r>
            <a:br/>
            <a:br/>
            <a:r>
              <a:t>CCTV / drone / attendance 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828800"/>
            <a:ext cx="1828800" cy="201168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Processing Layer</a:t>
            </a:r>
            <a:br/>
            <a:br/>
            <a:r>
              <a:t>Frame extraction • resize • denoise •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828800"/>
            <a:ext cx="1828800" cy="201168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AI Layer</a:t>
            </a:r>
            <a:br/>
            <a:br/>
            <a:r>
              <a:t>Object detection • classification • anomaly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828800"/>
            <a:ext cx="1828800" cy="201168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Service Layer</a:t>
            </a:r>
            <a:br/>
            <a:br/>
            <a:r>
              <a:t>API • database • alert service •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1828800"/>
            <a:ext cx="1828800" cy="201168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Presentation</a:t>
            </a:r>
            <a:br/>
            <a:br/>
            <a:r>
              <a:t>Dashboard • reports • notifications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834640"/>
            <a:ext cx="365759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00600" y="2834640"/>
            <a:ext cx="36576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880" y="2834640"/>
            <a:ext cx="36576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81160" y="2834640"/>
            <a:ext cx="36576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20240" y="4709160"/>
            <a:ext cx="8321040" cy="822960"/>
          </a:xfrm>
          <a:prstGeom prst="roundRect">
            <a:avLst/>
          </a:prstGeom>
          <a:solidFill>
            <a:srgbClr val="E8F5EE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Evidence: API calls + logs + model outputs + database schema + UI behavior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Module Interaction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645920" cy="9144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A32"/>
                </a:solidFill>
              </a:defRPr>
            </a:pPr>
            <a:r>
              <a:t>1. Capture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1645920" cy="9144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A32"/>
                </a:solidFill>
              </a:defRPr>
            </a:pPr>
            <a:r>
              <a:t>2.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828800"/>
            <a:ext cx="1645920" cy="9144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A32"/>
                </a:solidFill>
              </a:defRPr>
            </a:pPr>
            <a:r>
              <a:t>3.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828800"/>
            <a:ext cx="1645920" cy="9144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A32"/>
                </a:solidFill>
              </a:defRPr>
            </a:pPr>
            <a:r>
              <a:t>4.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206240"/>
            <a:ext cx="1645920" cy="9144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A32"/>
                </a:solidFill>
              </a:defRPr>
            </a:pPr>
            <a:r>
              <a:t>5.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206240"/>
            <a:ext cx="1645920" cy="9144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A32"/>
                </a:solidFill>
              </a:defRPr>
            </a:pPr>
            <a:r>
              <a:t>6. Dashboard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286000"/>
            <a:ext cx="45720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2286000"/>
            <a:ext cx="45720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92240" y="2286000"/>
            <a:ext cx="45720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657600" y="2743200"/>
            <a:ext cx="2011680" cy="146304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2743200"/>
            <a:ext cx="0" cy="146304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89120" y="4663440"/>
            <a:ext cx="256032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Reverse Engineering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A repeatable process for reconstructing an AI/software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02920" cy="502920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64592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Observe</a:t>
            </a:r>
            <a:br/>
            <a:r>
              <a:t>UI, inputs, outputs, latency, errors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246120"/>
            <a:ext cx="27432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41448" y="1645920"/>
            <a:ext cx="502920" cy="502920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2331720"/>
            <a:ext cx="164592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Collect</a:t>
            </a:r>
            <a:br/>
            <a:r>
              <a:t>Logs, binaries, APIs, configs, schemas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87368" y="3246120"/>
            <a:ext cx="27432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79976" y="1645920"/>
            <a:ext cx="502920" cy="502920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2331720"/>
            <a:ext cx="164592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Decompose</a:t>
            </a:r>
            <a:br/>
            <a:r>
              <a:t>Modules, dependencies, interfaces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25896" y="3246120"/>
            <a:ext cx="27432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18504" y="1645920"/>
            <a:ext cx="502920" cy="502920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2331720"/>
            <a:ext cx="164592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Infer</a:t>
            </a:r>
            <a:br/>
            <a:r>
              <a:t>Algorithms, rules, model behavior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64424" y="3246120"/>
            <a:ext cx="27432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57032" y="1645920"/>
            <a:ext cx="502920" cy="502920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7032" y="2331720"/>
            <a:ext cx="164592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Validate</a:t>
            </a:r>
            <a:br/>
            <a:r>
              <a:t>Controlled tests and expected outputs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902952" y="3246120"/>
            <a:ext cx="27432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195560" y="1645920"/>
            <a:ext cx="502920" cy="502920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2331720"/>
            <a:ext cx="164592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Reconstruct</a:t>
            </a:r>
            <a:br/>
            <a:r>
              <a:t>Architecture + data flow + logic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3. Algorithm &amp; Logic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How hidden decision-making logic can be inferred from observable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Input perturbation: change one input at a time and observe output changes.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Boundary testing: identify thresholds, confidence cut-offs and rule transitions.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Pattern analysis: compare repeated outputs to infer classification or ranking logic.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Model inspection: examine available weights, metadata, layer names or exported graphs.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Control-flow tracing: follow function calls, API requests, logs and state changes.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Validation: reproduce predictions on a controlled test set and compare results.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Tools Used in Reverse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Select tools based on the system layer being investigated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3200400" cy="1737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Static Analysis</a:t>
            </a:r>
            <a:br/>
            <a:br/>
            <a:r>
              <a:t>Ghidra / IDA</a:t>
            </a:r>
            <a:br/>
            <a:r>
              <a:t>Code &amp; binary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00400" cy="1737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Dynamic Analysis</a:t>
            </a:r>
            <a:br/>
            <a:br/>
            <a:r>
              <a:t>Debugger / Procmon</a:t>
            </a:r>
            <a:br/>
            <a:r>
              <a:t>Runtime behavior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554480"/>
            <a:ext cx="3200400" cy="1737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Network</a:t>
            </a:r>
            <a:br/>
            <a:br/>
            <a:r>
              <a:t>Wireshark / DevTools</a:t>
            </a:r>
            <a:br/>
            <a:r>
              <a:t>APIs &amp; protocols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886200"/>
            <a:ext cx="3200400" cy="1737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AI / Data</a:t>
            </a:r>
            <a:br/>
            <a:br/>
            <a:r>
              <a:t>Python / OpenCV</a:t>
            </a:r>
            <a:br/>
            <a:r>
              <a:t>Model &amp; signal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886200"/>
            <a:ext cx="3200400" cy="1737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Database</a:t>
            </a:r>
            <a:br/>
            <a:br/>
            <a:r>
              <a:t>SQLite / SQL tools</a:t>
            </a:r>
            <a:br/>
            <a:r>
              <a:t>Schema &amp; queries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886200"/>
            <a:ext cx="3200400" cy="1737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Visualization</a:t>
            </a:r>
            <a:br/>
            <a:br/>
            <a:r>
              <a:t>Draw.io / PowerPoint</a:t>
            </a:r>
            <a:br/>
            <a:r>
              <a:t>Architecture reconstruction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4. Data Flow &amp; 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57400"/>
            <a:ext cx="132588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Raw</a:t>
            </a:r>
            <a:br/>
            <a:r>
              <a:t>Video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2057400"/>
            <a:ext cx="132588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Frames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2057400"/>
            <a:ext cx="132588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Preprocess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2057400"/>
            <a:ext cx="132588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AI</a:t>
            </a:r>
            <a:br/>
            <a:r>
              <a:t>Inference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2057400"/>
            <a:ext cx="132588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Tracking /</a:t>
            </a:r>
            <a:br/>
            <a:r>
              <a:t>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2057400"/>
            <a:ext cx="132588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DB /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78440" y="2057400"/>
            <a:ext cx="132588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Dashboard /</a:t>
            </a:r>
            <a:br/>
            <a:r>
              <a:t>Alert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670048"/>
            <a:ext cx="32004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74720" y="2670048"/>
            <a:ext cx="32004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20640" y="2670048"/>
            <a:ext cx="32004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66560" y="2670048"/>
            <a:ext cx="32004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12480" y="2670048"/>
            <a:ext cx="32004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58400" y="2670048"/>
            <a:ext cx="32004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417320" y="4160520"/>
            <a:ext cx="9372600" cy="914400"/>
          </a:xfrm>
          <a:prstGeom prst="roundRect">
            <a:avLst/>
          </a:prstGeom>
          <a:solidFill>
            <a:srgbClr val="E6F1FA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Communication: REST/HTTP APIs • JSON messages • database transactions • event/notification channel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Distributed System Communication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828800" cy="118872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Edge Device</a:t>
            </a:r>
            <a:br/>
            <a:r>
              <a:t>Camera/Drone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28800"/>
            <a:ext cx="1828800" cy="118872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Inference</a:t>
            </a:r>
            <a:br/>
            <a:r>
              <a:t>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828800"/>
            <a:ext cx="1828800" cy="118872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Database</a:t>
            </a:r>
            <a:br/>
            <a:r>
              <a:t>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828800"/>
            <a:ext cx="1828800" cy="118872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Web/API</a:t>
            </a:r>
            <a:br/>
            <a:r>
              <a:t>Server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423160"/>
            <a:ext cx="109728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2423160"/>
            <a:ext cx="109728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12480" y="2423160"/>
            <a:ext cx="1097280" cy="0"/>
          </a:xfrm>
          <a:prstGeom prst="line">
            <a:avLst/>
          </a:prstGeom>
          <a:ln w="31750"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4114800"/>
            <a:ext cx="8503920" cy="914400"/>
          </a:xfrm>
          <a:prstGeom prst="roundRect">
            <a:avLst/>
          </a:prstGeom>
          <a:solidFill>
            <a:srgbClr val="E8F5EE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Asynchronous events reduce coupling and allow alerts, storage and dashboards to scale independently.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Architecture Reconstruction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Example: infer the hidden pipeline from one uploaded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1. Upload image → observe request endpoint and response format.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2. Inspect network call → identify API route, payload and status code.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3. Repeat with different images → compare labels, confidence and latency.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4. Trace processing → image resize → model inference → post-processing → database.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5. Recreate the flow → implement a simplified client and verify matching behavior.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Evidence-to-Component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840480" cy="594360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3840480" cy="594360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Likely 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508760"/>
            <a:ext cx="2560320" cy="594360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84048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HTTP request /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194560"/>
            <a:ext cx="384048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API gateway /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194560"/>
            <a:ext cx="256032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384048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Model confidence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926080"/>
            <a:ext cx="384048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AI inference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926080"/>
            <a:ext cx="256032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High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384048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Repeated object IDs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657600"/>
            <a:ext cx="384048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Tracking module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657600"/>
            <a:ext cx="256032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Medium–High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384048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Persistent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389120"/>
            <a:ext cx="384048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Database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4389120"/>
            <a:ext cx="256032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High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20640"/>
            <a:ext cx="384048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Alert after threshold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5120640"/>
            <a:ext cx="384048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Decision/rule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5120640"/>
            <a:ext cx="2560320" cy="59436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Medium–High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Validation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A reconstruction is credible only when the inferred system reproduces observable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Functional validation: same input should produce equivalent output categories.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Performance validation: compare latency, throughput and resource usage.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Data validation: verify records, IDs, timestamps and relationships.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Robustness validation: test missing data, noisy images and unexpected inputs.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Regression validation: maintain a benchmark set while redesigning components.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5. Enhancement &amp; Redesign Proposal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828800" cy="1097280"/>
          </a:xfrm>
          <a:prstGeom prst="roundRect">
            <a:avLst/>
          </a:prstGeom>
          <a:solidFill>
            <a:srgbClr val="FAEBEB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Monolithic</a:t>
            </a:r>
            <a:br/>
            <a:r>
              <a:t>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28800"/>
            <a:ext cx="1828800" cy="1097280"/>
          </a:xfrm>
          <a:prstGeom prst="roundRect">
            <a:avLst/>
          </a:prstGeom>
          <a:solidFill>
            <a:srgbClr val="FAEBEB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Centralized</a:t>
            </a:r>
            <a:br/>
            <a:r>
              <a:t>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828800"/>
            <a:ext cx="1828800" cy="1097280"/>
          </a:xfrm>
          <a:prstGeom prst="roundRect">
            <a:avLst/>
          </a:prstGeom>
          <a:solidFill>
            <a:srgbClr val="FAEBEB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Single AI</a:t>
            </a:r>
            <a:br/>
            <a: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828800"/>
            <a:ext cx="1828800" cy="1097280"/>
          </a:xfrm>
          <a:prstGeom prst="roundRect">
            <a:avLst/>
          </a:prstGeom>
          <a:solidFill>
            <a:srgbClr val="FAEBEB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Manual</a:t>
            </a:r>
            <a:br/>
            <a:r>
              <a:t>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828800" cy="1097280"/>
          </a:xfrm>
          <a:prstGeom prst="roundRect">
            <a:avLst/>
          </a:prstGeom>
          <a:solidFill>
            <a:srgbClr val="E8F5EE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Microservices</a:t>
            </a:r>
            <a:br/>
            <a:r>
              <a:t>+ 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297680"/>
            <a:ext cx="1828800" cy="1097280"/>
          </a:xfrm>
          <a:prstGeom prst="roundRect">
            <a:avLst/>
          </a:prstGeom>
          <a:solidFill>
            <a:srgbClr val="E8F5EE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Scalable</a:t>
            </a:r>
            <a:br/>
            <a:r>
              <a:t>Data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297680"/>
            <a:ext cx="1828800" cy="1097280"/>
          </a:xfrm>
          <a:prstGeom prst="roundRect">
            <a:avLst/>
          </a:prstGeom>
          <a:solidFill>
            <a:srgbClr val="E8F5EE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Model Ensemble</a:t>
            </a:r>
            <a:br/>
            <a:r>
              <a:t>+ Monitoring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4297680"/>
            <a:ext cx="1828800" cy="1097280"/>
          </a:xfrm>
          <a:prstGeom prst="roundRect">
            <a:avLst/>
          </a:prstGeom>
          <a:solidFill>
            <a:srgbClr val="E8F5EE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Event-driven</a:t>
            </a:r>
            <a:br/>
            <a:r>
              <a:t>Alerts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45920" y="2971800"/>
            <a:ext cx="0" cy="1325880"/>
          </a:xfrm>
          <a:prstGeom prst="line">
            <a:avLst/>
          </a:prstGeom>
          <a:ln w="31750">
            <a:solidFill>
              <a:srgbClr val="3796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2971800"/>
            <a:ext cx="0" cy="1325880"/>
          </a:xfrm>
          <a:prstGeom prst="line">
            <a:avLst/>
          </a:prstGeom>
          <a:ln w="31750">
            <a:solidFill>
              <a:srgbClr val="3796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98079" y="2971800"/>
            <a:ext cx="0" cy="1325880"/>
          </a:xfrm>
          <a:prstGeom prst="line">
            <a:avLst/>
          </a:prstGeom>
          <a:ln w="31750">
            <a:solidFill>
              <a:srgbClr val="3796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0" y="2971800"/>
            <a:ext cx="0" cy="1325880"/>
          </a:xfrm>
          <a:prstGeom prst="line">
            <a:avLst/>
          </a:prstGeom>
          <a:ln w="31750">
            <a:solidFill>
              <a:srgbClr val="3796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Expected Benefits of the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Scalability: process more camera/drone streams without redesigning the whole system.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Reliability: isolate failures and add retries, queues and health monitoring.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Accuracy: use model monitoring, retraining and confidence calibration.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Security: strengthen authentication, authorization, encryption and audit logging.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Maintainability: clear module boundaries make testing and future upgrades easier.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Evaluation Rubric &amp; How This Presentation Targets Level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743200" cy="685800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Technical Content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17320"/>
            <a:ext cx="1051560" cy="685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30%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417320"/>
            <a:ext cx="6903720" cy="685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Deep architecture, algorithms, data flow and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50008"/>
            <a:ext cx="2743200" cy="685800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Problem Identification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350008"/>
            <a:ext cx="1051560" cy="685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25%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350008"/>
            <a:ext cx="6903720" cy="685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Evidence-driven reverse-engineering methodology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82696"/>
            <a:ext cx="2743200" cy="685800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Use of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282696"/>
            <a:ext cx="1051560" cy="685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20%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282696"/>
            <a:ext cx="6903720" cy="685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Static/dynamic/network/AI/data visualization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15384"/>
            <a:ext cx="2743200" cy="685800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Communication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4215384"/>
            <a:ext cx="1051560" cy="685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215384"/>
            <a:ext cx="6903720" cy="685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Structured story: observe → infer → validate → redesign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148072"/>
            <a:ext cx="2743200" cy="685800"/>
          </a:xfrm>
          <a:prstGeom prst="roundRect">
            <a:avLst/>
          </a:prstGeom>
          <a:solidFill>
            <a:srgbClr val="2C69B4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Professionalism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5148072"/>
            <a:ext cx="1051560" cy="685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10%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5148072"/>
            <a:ext cx="6903720" cy="685800"/>
          </a:xfrm>
          <a:prstGeom prst="roundRect">
            <a:avLst/>
          </a:prstGeom>
          <a:solidFill>
            <a:srgbClr val="F0F4F8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Ethics, reproducibility, security and responsible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Professionalism &amp; Ethical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Perform reverse engineering only on systems you are authorized to analyze.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Protect credentials, personal data, proprietary code and confidential datasets.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Document assumptions separately from verified findings.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Do not bypass security controls or deploy reconstructed components without permission.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Keep an audit trail of tools, tests, evidence and limitations.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Reverse Engineering of an AI-Based System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0280"/>
            <a:ext cx="996696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Reverse engineering converts observable behavior into a defensible system model.</a:t>
            </a:r>
          </a:p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Architecture, algorithms and data flow can be reconstructed through evidence and controlled experiments.</a:t>
            </a:r>
          </a:p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Validation separates real findings from assumptions.</a:t>
            </a:r>
          </a:p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Redesign should improve scalability, reliability, accuracy, security and maintainability.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539496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B4DCEB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990</Words>
  <Application>Microsoft Office PowerPoint</Application>
  <PresentationFormat>Widescreen</PresentationFormat>
  <Paragraphs>171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venu gowda</dc:creator>
  <cp:keywords/>
  <dc:description>generated using python-pptx</dc:description>
  <cp:lastModifiedBy>venu gowda</cp:lastModifiedBy>
  <cp:revision>2</cp:revision>
  <dcterms:created xsi:type="dcterms:W3CDTF">2013-01-27T09:14:16Z</dcterms:created>
  <dcterms:modified xsi:type="dcterms:W3CDTF">2026-08-28T03:52:53Z</dcterms:modified>
  <cp:category/>
</cp:coreProperties>
</file>